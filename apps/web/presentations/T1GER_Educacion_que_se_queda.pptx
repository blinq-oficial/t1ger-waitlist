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nvestor.gov/introduction-investing/investing-basics/what-risk" TargetMode="External"/><Relationship Id="rId2" Type="http://schemas.openxmlformats.org/officeDocument/2006/relationships/hyperlink" Target="https://www.consumerfinance.gov/an-essential-guide-to-building-an-emergency-fund/" TargetMode="External"/><Relationship Id="rId3" Type="http://schemas.openxmlformats.org/officeDocument/2006/relationships/hyperlink" Target="https://doi.org/10.1073/pnas.1319030111" TargetMode="External"/><Relationship Id="rId4" Type="http://schemas.openxmlformats.org/officeDocument/2006/relationships/hyperlink" Target="https://www.psychologicalscience.org/publications/journals/pspi/learning-techniques.html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spc="220" kern="0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T1GER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365760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777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TESIS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6382512"/>
            <a:ext cx="11219688" cy="0"/>
          </a:xfrm>
          <a:prstGeom prst="line">
            <a:avLst/>
          </a:prstGeom>
          <a:noFill/>
          <a:ln w="10160">
            <a:solidFill>
              <a:srgbClr val="3B38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777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IT.  APPLY IT.  MASTER IT.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01400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10515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T1GER / SISTEMA EDUCATIVO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57276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900" b="1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mejor de internet,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640080" y="2249424"/>
            <a:ext cx="10927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convertido en aprendizaje real.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85800" y="3364992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ABA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Seleccionamos conocimiento fiable. Lo convertimos en decisiones prácticas. Lo hacemos volver cuando hace falta recordarlo.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503920" y="4069080"/>
            <a:ext cx="2148840" cy="2148840"/>
          </a:xfrm>
          <a:prstGeom prst="ellipse">
            <a:avLst/>
          </a:prstGeom>
          <a:solidFill>
            <a:srgbClr val="0D0D10">
              <a:alpha val="0"/>
            </a:srgbClr>
          </a:solidFill>
          <a:ln w="27940">
            <a:solidFill>
              <a:srgbClr val="FF73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42832" y="4517136"/>
            <a:ext cx="1252728" cy="1252728"/>
          </a:xfrm>
          <a:prstGeom prst="ellipse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44584" y="46177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0D0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300" dirty="0"/>
          </a:p>
        </p:txBody>
      </p:sp>
      <p:sp>
        <p:nvSpPr>
          <p:cNvPr id="15" name="Text 13"/>
          <p:cNvSpPr/>
          <p:nvPr/>
        </p:nvSpPr>
        <p:spPr>
          <a:xfrm>
            <a:off x="676656" y="49377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información a capacidad.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spc="220" kern="0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T1GER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365760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777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6382512"/>
            <a:ext cx="11219688" cy="0"/>
          </a:xfrm>
          <a:prstGeom prst="line">
            <a:avLst/>
          </a:prstGeom>
          <a:noFill/>
          <a:ln w="10160">
            <a:solidFill>
              <a:srgbClr val="3B38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777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IT.  APPLY IT.  MASTER IT.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01400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10058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BRECHA REAL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344168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informa. Aprender exige más.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658368" y="2057400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ABA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valor no está en acumular contenido, sino en saber qué hacer con él.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58368" y="2953512"/>
            <a:ext cx="3474720" cy="2468880"/>
          </a:xfrm>
          <a:prstGeom prst="roundRect">
            <a:avLst>
              <a:gd name="adj" fmla="val 4815"/>
            </a:avLst>
          </a:prstGeom>
          <a:solidFill>
            <a:srgbClr val="17171C"/>
          </a:solidFill>
          <a:ln w="11430">
            <a:solidFill>
              <a:srgbClr val="3B38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46120"/>
            <a:ext cx="594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14400" y="374904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Ruido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400" y="4343400"/>
            <a:ext cx="294436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BA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de calidad y opiniones mezcladas en el mismo feed.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71416" y="2953512"/>
            <a:ext cx="3474720" cy="2468880"/>
          </a:xfrm>
          <a:prstGeom prst="roundRect">
            <a:avLst>
              <a:gd name="adj" fmla="val 4815"/>
            </a:avLst>
          </a:prstGeom>
          <a:solidFill>
            <a:srgbClr val="17171C"/>
          </a:solidFill>
          <a:ln w="11430">
            <a:solidFill>
              <a:srgbClr val="3B38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3246120"/>
            <a:ext cx="594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727448" y="374904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Pasividad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4727448" y="4343400"/>
            <a:ext cx="294436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BA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un vídeo no demuestra que puedas tomar una decisión.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84464" y="2953512"/>
            <a:ext cx="3474720" cy="2468880"/>
          </a:xfrm>
          <a:prstGeom prst="roundRect">
            <a:avLst>
              <a:gd name="adj" fmla="val 4815"/>
            </a:avLst>
          </a:prstGeom>
          <a:solidFill>
            <a:srgbClr val="17171C"/>
          </a:solidFill>
          <a:ln w="11430">
            <a:solidFill>
              <a:srgbClr val="3B38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0496" y="3246120"/>
            <a:ext cx="594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540496" y="374904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Olvido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8540496" y="4343400"/>
            <a:ext cx="294436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BA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recuperar una idea después, es difícil conservarla.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spc="220" kern="0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T1GER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365760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777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FILTRO T1GER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6382512"/>
            <a:ext cx="11219688" cy="0"/>
          </a:xfrm>
          <a:prstGeom prst="line">
            <a:avLst/>
          </a:prstGeom>
          <a:noFill/>
          <a:ln w="10160">
            <a:solidFill>
              <a:srgbClr val="3B38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777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IT.  APPLY IT.  MASTER IT.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01400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96926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CURADURÍA + DISEÑO ORIGINAL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98448"/>
            <a:ext cx="10927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Tomamos buenas fuentes. Construimos mejores experiencias.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630936" y="2633472"/>
            <a:ext cx="2651760" cy="2423160"/>
          </a:xfrm>
          <a:prstGeom prst="roundRect">
            <a:avLst>
              <a:gd name="adj" fmla="val 4906"/>
            </a:avLst>
          </a:prstGeom>
          <a:solidFill>
            <a:srgbClr val="17171C"/>
          </a:solidFill>
          <a:ln w="11430">
            <a:solidFill>
              <a:srgbClr val="3B38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28620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2104" y="332841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Seleccionar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2104" y="379476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ABA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primarias y conocimiento útil.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2104" y="4617720"/>
            <a:ext cx="22219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9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· CFPB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00984" y="3474720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3511296" y="2633472"/>
            <a:ext cx="2651760" cy="2423160"/>
          </a:xfrm>
          <a:prstGeom prst="roundRect">
            <a:avLst>
              <a:gd name="adj" fmla="val 4906"/>
            </a:avLst>
          </a:prstGeom>
          <a:solidFill>
            <a:srgbClr val="17171C"/>
          </a:solidFill>
          <a:ln w="11430">
            <a:solidFill>
              <a:srgbClr val="3B38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2464" y="28620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12464" y="332841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712464" y="379476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ABA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afirma cada fuente, supuestos y límites.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712464" y="4617720"/>
            <a:ext cx="22219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9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TRAZABLE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81344" y="3474720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6391656" y="2633472"/>
            <a:ext cx="2651760" cy="2423160"/>
          </a:xfrm>
          <a:prstGeom prst="roundRect">
            <a:avLst>
              <a:gd name="adj" fmla="val 4906"/>
            </a:avLst>
          </a:prstGeom>
          <a:solidFill>
            <a:srgbClr val="17171C"/>
          </a:solidFill>
          <a:ln w="11430">
            <a:solidFill>
              <a:srgbClr val="3B38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92824" y="28620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92824" y="332841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Transformar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592824" y="379476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ABA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lección original alrededor de una decisión.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592824" y="4617720"/>
            <a:ext cx="22219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9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PREDICCIÓN + MODELO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061704" y="3474720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9272016" y="2633472"/>
            <a:ext cx="2651760" cy="2423160"/>
          </a:xfrm>
          <a:prstGeom prst="roundRect">
            <a:avLst>
              <a:gd name="adj" fmla="val 4906"/>
            </a:avLst>
          </a:prstGeom>
          <a:solidFill>
            <a:srgbClr val="17171C"/>
          </a:solidFill>
          <a:ln w="11430">
            <a:solidFill>
              <a:srgbClr val="3B38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73184" y="28620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473184" y="332841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473184" y="379476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ABA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de revisión y conceptos que deben actualizarse.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473184" y="4617720"/>
            <a:ext cx="22219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9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CALIDAD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8368" y="5440680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real: “Cash loses too” une el riesgo de inflación (SEC) con el papel del fondo de emergencia (CFPB).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spc="220" kern="0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T1GER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365760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777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MÉTODO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6382512"/>
            <a:ext cx="11219688" cy="0"/>
          </a:xfrm>
          <a:prstGeom prst="line">
            <a:avLst/>
          </a:prstGeom>
          <a:noFill/>
          <a:ln w="10160">
            <a:solidFill>
              <a:srgbClr val="3B38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777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IT.  APPLY IT.  MASTER IT.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01400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97840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IDEA → UNA DECISIÓN → UNA MEMORIA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325880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it. Apply it. Master it.</a:t>
            </a:r>
            <a:endParaRPr lang="en-US" sz="4300" dirty="0"/>
          </a:p>
        </p:txBody>
      </p:sp>
      <p:sp>
        <p:nvSpPr>
          <p:cNvPr id="10" name="Shape 8"/>
          <p:cNvSpPr/>
          <p:nvPr/>
        </p:nvSpPr>
        <p:spPr>
          <a:xfrm>
            <a:off x="649224" y="2514600"/>
            <a:ext cx="3474720" cy="3136392"/>
          </a:xfrm>
          <a:prstGeom prst="roundRect">
            <a:avLst>
              <a:gd name="adj" fmla="val 3790"/>
            </a:avLst>
          </a:prstGeom>
          <a:solidFill>
            <a:srgbClr val="17171C"/>
          </a:solidFill>
          <a:ln w="11430">
            <a:solidFill>
              <a:srgbClr val="3B38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77063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96112" y="3200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10" kern="0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96112" y="3648456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9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96112" y="4041648"/>
            <a:ext cx="2944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ABA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Predices, exploras el modelo y ves la evidencia con sus límites.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896112" y="4818888"/>
            <a:ext cx="2971800" cy="0"/>
          </a:xfrm>
          <a:prstGeom prst="line">
            <a:avLst/>
          </a:prstGeom>
          <a:noFill/>
          <a:ln w="10160">
            <a:solidFill>
              <a:srgbClr val="3B38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956048"/>
            <a:ext cx="2916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i="1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pasa con el poder de compra del efectivo?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4480560" y="2514600"/>
            <a:ext cx="3474720" cy="3136392"/>
          </a:xfrm>
          <a:prstGeom prst="roundRect">
            <a:avLst>
              <a:gd name="adj" fmla="val 3790"/>
            </a:avLst>
          </a:prstGeom>
          <a:solidFill>
            <a:srgbClr val="211912"/>
          </a:solidFill>
          <a:ln w="11430">
            <a:solidFill>
              <a:srgbClr val="FF7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7448" y="277063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727448" y="3200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10" kern="0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27448" y="3648456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9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727448" y="4041648"/>
            <a:ext cx="2944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ABA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Transformas el concepto en una regla para una situación concreta.</a:t>
            </a:r>
            <a:endParaRPr lang="en-US" sz="1520" dirty="0"/>
          </a:p>
        </p:txBody>
      </p:sp>
      <p:sp>
        <p:nvSpPr>
          <p:cNvPr id="22" name="Shape 20"/>
          <p:cNvSpPr/>
          <p:nvPr/>
        </p:nvSpPr>
        <p:spPr>
          <a:xfrm>
            <a:off x="4727448" y="4818888"/>
            <a:ext cx="2971800" cy="0"/>
          </a:xfrm>
          <a:prstGeom prst="line">
            <a:avLst/>
          </a:prstGeom>
          <a:noFill/>
          <a:ln w="10160">
            <a:solidFill>
              <a:srgbClr val="3B38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27448" y="4956048"/>
            <a:ext cx="2916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i="1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para qué sirve tu reserva de efectivo.</a:t>
            </a:r>
            <a:endParaRPr lang="en-US" sz="1260" dirty="0"/>
          </a:p>
        </p:txBody>
      </p:sp>
      <p:sp>
        <p:nvSpPr>
          <p:cNvPr id="24" name="Shape 22"/>
          <p:cNvSpPr/>
          <p:nvPr/>
        </p:nvSpPr>
        <p:spPr>
          <a:xfrm>
            <a:off x="8311896" y="2514600"/>
            <a:ext cx="3474720" cy="3136392"/>
          </a:xfrm>
          <a:prstGeom prst="roundRect">
            <a:avLst>
              <a:gd name="adj" fmla="val 3790"/>
            </a:avLst>
          </a:prstGeom>
          <a:solidFill>
            <a:srgbClr val="17171C"/>
          </a:solidFill>
          <a:ln w="11430">
            <a:solidFill>
              <a:srgbClr val="3B38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58784" y="277063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558784" y="3200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10" kern="0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558784" y="3648456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9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Recordar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558784" y="4041648"/>
            <a:ext cx="2944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ABA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Recuperas la idea después y la fortaleces con repasos espaciados.</a:t>
            </a:r>
            <a:endParaRPr lang="en-US" sz="1520" dirty="0"/>
          </a:p>
        </p:txBody>
      </p:sp>
      <p:sp>
        <p:nvSpPr>
          <p:cNvPr id="29" name="Shape 27"/>
          <p:cNvSpPr/>
          <p:nvPr/>
        </p:nvSpPr>
        <p:spPr>
          <a:xfrm>
            <a:off x="8558784" y="4818888"/>
            <a:ext cx="2971800" cy="0"/>
          </a:xfrm>
          <a:prstGeom prst="line">
            <a:avLst/>
          </a:prstGeom>
          <a:noFill/>
          <a:ln w="10160">
            <a:solidFill>
              <a:srgbClr val="3B38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58784" y="4956048"/>
            <a:ext cx="2916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i="1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 por qué guardar efectivo aún puede ser útil.</a:t>
            </a:r>
            <a:endParaRPr lang="en-US" sz="12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spc="220" kern="0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T1GER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365760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777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PUEDE FUNCIONAR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6382512"/>
            <a:ext cx="11219688" cy="0"/>
          </a:xfrm>
          <a:prstGeom prst="line">
            <a:avLst/>
          </a:prstGeom>
          <a:noFill/>
          <a:ln w="10160">
            <a:solidFill>
              <a:srgbClr val="3B38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777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IT.  APPLY IT.  MASTER IT.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01400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95097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INFORMADO POR INVESTIGACIÓN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307592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Diseñado para participar y volver.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658368" y="2404872"/>
            <a:ext cx="5349240" cy="3310128"/>
          </a:xfrm>
          <a:prstGeom prst="roundRect">
            <a:avLst>
              <a:gd name="adj" fmla="val 3591"/>
            </a:avLst>
          </a:prstGeom>
          <a:solidFill>
            <a:srgbClr val="17171C"/>
          </a:solidFill>
          <a:ln w="11430">
            <a:solidFill>
              <a:srgbClr val="3B38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0488" y="2404872"/>
            <a:ext cx="5349240" cy="3310128"/>
          </a:xfrm>
          <a:prstGeom prst="roundRect">
            <a:avLst>
              <a:gd name="adj" fmla="val 3591"/>
            </a:avLst>
          </a:prstGeom>
          <a:solidFill>
            <a:srgbClr val="17171C"/>
          </a:solidFill>
          <a:ln w="11430">
            <a:solidFill>
              <a:srgbClr val="3B38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688336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FF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APRENDIZAJE ACTIVO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32688" y="3191256"/>
            <a:ext cx="4690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Hacer antes de recibir la respuesta.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32688" y="4069080"/>
            <a:ext cx="46451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BA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T1GER pide una predicción y una decisión. La investigación sobre aprendizaje activo respalda la participación frente a la escucha pasiva; el estudio citado se realizó en cursos STEM universitarios.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64808" y="2688336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FF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RECUPERACIÓN + ESPACIADO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64808" y="3191256"/>
            <a:ext cx="4690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Volver a sacar la idea de la memoria.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464808" y="4069080"/>
            <a:ext cx="46451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BA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repaso mediante preguntas y la práctica distribuida figuran entre las técnicas de mayor utilidad en una revisión amplia. T1GER las incorpora en Master.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587959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77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evidencia apoya el diseño pedagógico; todavía no demuestra resultados superiores de T1GER frente a otros productos.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spc="220" kern="0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T1GER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365760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777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PROPUESTA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6382512"/>
            <a:ext cx="11219688" cy="0"/>
          </a:xfrm>
          <a:prstGeom prst="line">
            <a:avLst/>
          </a:prstGeom>
          <a:noFill/>
          <a:ln w="10160">
            <a:solidFill>
              <a:srgbClr val="3B38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777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IT.  APPLY IT.  MASTER IT.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01400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9418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 AMBICIÓN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444752"/>
            <a:ext cx="10835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educación más útil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10835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FF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encuentra. Se construye.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676656" y="3154680"/>
            <a:ext cx="10744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fiables  ×  experiencias activas  ×  memoria que vuelve.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58368" y="3977640"/>
            <a:ext cx="10881360" cy="877824"/>
          </a:xfrm>
          <a:prstGeom prst="roundRect">
            <a:avLst>
              <a:gd name="adj" fmla="val 13542"/>
            </a:avLst>
          </a:prstGeom>
          <a:solidFill>
            <a:srgbClr val="202027"/>
          </a:solidFill>
          <a:ln w="11430">
            <a:solidFill>
              <a:srgbClr val="FF7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206240"/>
            <a:ext cx="10314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T1GER convierte conocimiento público de calidad en criterio que una persona puede usar.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85800" y="5111496"/>
            <a:ext cx="10744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BA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actual: 2 lecciones web de Smart Money auditadas. La eficacia del producto con usuarios reales está por medir.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560527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130" kern="0" dirty="0">
                <a:solidFill>
                  <a:srgbClr val="FF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1536192" y="5577840"/>
            <a:ext cx="9875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BA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Investor.gov · CFPB · Freeman et al., PNAS (2014) · Dunlosky et al., APS (2013)</a:t>
            </a:r>
            <a:endParaRPr lang="en-US" sz="940" dirty="0"/>
          </a:p>
        </p:txBody>
      </p:sp>
      <p:sp>
        <p:nvSpPr>
          <p:cNvPr id="17" name="Text 15">
            <a:hlinkClick r:id="rId1" tooltip=""/>
          </p:cNvPr>
          <p:cNvSpPr/>
          <p:nvPr/>
        </p:nvSpPr>
        <p:spPr>
          <a:xfrm>
            <a:off x="685800" y="5897880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u="sng" dirty="0">
                <a:solidFill>
                  <a:srgbClr val="77757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</a:t>
            </a:r>
            <a:endParaRPr lang="en-US" sz="880" dirty="0"/>
          </a:p>
        </p:txBody>
      </p:sp>
      <p:sp>
        <p:nvSpPr>
          <p:cNvPr id="18" name="Text 16">
            <a:hlinkClick r:id="rId2" tooltip=""/>
          </p:cNvPr>
          <p:cNvSpPr/>
          <p:nvPr/>
        </p:nvSpPr>
        <p:spPr>
          <a:xfrm>
            <a:off x="3081528" y="5897880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u="sng" dirty="0">
                <a:solidFill>
                  <a:srgbClr val="77757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CFPB</a:t>
            </a:r>
            <a:endParaRPr lang="en-US" sz="880" dirty="0"/>
          </a:p>
        </p:txBody>
      </p:sp>
      <p:sp>
        <p:nvSpPr>
          <p:cNvPr id="19" name="Text 17">
            <a:hlinkClick r:id="rId3" tooltip=""/>
          </p:cNvPr>
          <p:cNvSpPr/>
          <p:nvPr/>
        </p:nvSpPr>
        <p:spPr>
          <a:xfrm>
            <a:off x="5477256" y="5897880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u="sng" dirty="0">
                <a:solidFill>
                  <a:srgbClr val="77757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Freeman et al.</a:t>
            </a:r>
            <a:endParaRPr lang="en-US" sz="880" dirty="0"/>
          </a:p>
        </p:txBody>
      </p:sp>
      <p:sp>
        <p:nvSpPr>
          <p:cNvPr id="20" name="Text 18">
            <a:hlinkClick r:id="rId4" tooltip=""/>
          </p:cNvPr>
          <p:cNvSpPr/>
          <p:nvPr/>
        </p:nvSpPr>
        <p:spPr>
          <a:xfrm>
            <a:off x="7872984" y="5897880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u="sng" dirty="0">
                <a:solidFill>
                  <a:srgbClr val="77757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Dunlosky et al.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T1GER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T1GER — Lo mejor de internet, convertido en aprendizaje real</dc:title>
  <dc:subject>El sistema educativo T1GER</dc:subject>
  <dc:creator>T1GER</dc:creator>
  <cp:lastModifiedBy>T1GER</cp:lastModifiedBy>
  <cp:revision>1</cp:revision>
  <dcterms:created xsi:type="dcterms:W3CDTF">2026-09-28T18:26:14Z</dcterms:created>
  <dcterms:modified xsi:type="dcterms:W3CDTF">2026-09-28T18:26:14Z</dcterms:modified>
</cp:coreProperties>
</file>